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353" r:id="rId1"/>
  </p:sldMasterIdLst>
  <p:sldIdLst>
    <p:sldId id="256" r:id="rId2"/>
    <p:sldId id="257" r:id="rId3"/>
    <p:sldId id="258" r:id="rId4"/>
    <p:sldId id="262" r:id="rId5"/>
    <p:sldId id="268" r:id="rId6"/>
    <p:sldId id="265" r:id="rId7"/>
    <p:sldId id="259" r:id="rId8"/>
    <p:sldId id="260" r:id="rId9"/>
    <p:sldId id="261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76"/>
    <p:restoredTop sz="94729"/>
  </p:normalViewPr>
  <p:slideViewPr>
    <p:cSldViewPr snapToGrid="0" snapToObjects="1">
      <p:cViewPr varScale="1">
        <p:scale>
          <a:sx n="112" d="100"/>
          <a:sy n="112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473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667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286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932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38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3090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66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55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20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68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54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EB5D2-1D80-C54D-BFD1-DCC2A2B5967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6F3E072-6D37-D64A-914F-9ADFCCBA75BE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42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55" r:id="rId2"/>
    <p:sldLayoutId id="2147484356" r:id="rId3"/>
    <p:sldLayoutId id="2147484357" r:id="rId4"/>
    <p:sldLayoutId id="2147484358" r:id="rId5"/>
    <p:sldLayoutId id="2147484359" r:id="rId6"/>
    <p:sldLayoutId id="2147484360" r:id="rId7"/>
    <p:sldLayoutId id="2147484361" r:id="rId8"/>
    <p:sldLayoutId id="2147484362" r:id="rId9"/>
    <p:sldLayoutId id="2147484363" r:id="rId10"/>
    <p:sldLayoutId id="21474843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9E2A-90E6-7B4A-BD3E-277D3F553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6072" y="945968"/>
            <a:ext cx="4082378" cy="2380828"/>
          </a:xfrm>
        </p:spPr>
        <p:txBody>
          <a:bodyPr>
            <a:normAutofit/>
          </a:bodyPr>
          <a:lstStyle/>
          <a:p>
            <a:r>
              <a:rPr lang="en-US" sz="4800" dirty="0"/>
              <a:t>Algorithm Engineering Project</a:t>
            </a:r>
            <a:r>
              <a:rPr lang="en-US" sz="4800" dirty="0">
                <a:effectLst/>
              </a:rPr>
              <a:t> 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9DFB0-DE73-5840-B0FB-BA8AADAB4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071" y="3779652"/>
            <a:ext cx="4958882" cy="1806501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en-US" sz="1600" b="1" dirty="0"/>
              <a:t>Team 1</a:t>
            </a:r>
          </a:p>
          <a:p>
            <a:r>
              <a:rPr lang="en-US" sz="1600" dirty="0" err="1"/>
              <a:t>Mert</a:t>
            </a:r>
            <a:r>
              <a:rPr lang="en-US" sz="1600" dirty="0"/>
              <a:t> Saner- M.S</a:t>
            </a:r>
            <a:r>
              <a:rPr lang="en-US" sz="2000" cap="none" dirty="0">
                <a:solidFill>
                  <a:prstClr val="black"/>
                </a:solidFill>
              </a:rPr>
              <a:t>c.</a:t>
            </a:r>
            <a:r>
              <a:rPr lang="en-US" sz="1600" dirty="0"/>
              <a:t> Scientific computing</a:t>
            </a:r>
          </a:p>
          <a:p>
            <a:r>
              <a:rPr lang="en-US" sz="1600" dirty="0"/>
              <a:t>Max PAUL </a:t>
            </a:r>
            <a:r>
              <a:rPr lang="en-US" sz="1600" dirty="0" err="1"/>
              <a:t>Bähnisch</a:t>
            </a:r>
            <a:r>
              <a:rPr lang="en-US" sz="1600" dirty="0"/>
              <a:t> - M.S</a:t>
            </a:r>
            <a:r>
              <a:rPr lang="en-US" sz="2000" cap="none" dirty="0">
                <a:solidFill>
                  <a:prstClr val="black"/>
                </a:solidFill>
              </a:rPr>
              <a:t>c</a:t>
            </a:r>
            <a:r>
              <a:rPr lang="en-US" sz="1600" dirty="0"/>
              <a:t>. Computer science</a:t>
            </a:r>
          </a:p>
          <a:p>
            <a:r>
              <a:rPr lang="en-US" sz="1600" dirty="0"/>
              <a:t>Hannah </a:t>
            </a:r>
            <a:r>
              <a:rPr lang="en-US" sz="1600" dirty="0" err="1"/>
              <a:t>Wetterau</a:t>
            </a:r>
            <a:r>
              <a:rPr lang="en-US" sz="1600" dirty="0"/>
              <a:t> - M.S</a:t>
            </a:r>
            <a:r>
              <a:rPr lang="en-US" sz="2000" cap="none" dirty="0">
                <a:solidFill>
                  <a:prstClr val="black"/>
                </a:solidFill>
              </a:rPr>
              <a:t>c</a:t>
            </a:r>
            <a:r>
              <a:rPr lang="en-US" sz="1600" dirty="0"/>
              <a:t>. Computer science</a:t>
            </a:r>
          </a:p>
        </p:txBody>
      </p:sp>
      <p:pic>
        <p:nvPicPr>
          <p:cNvPr id="23" name="Graphic 6" descr="Gears">
            <a:extLst>
              <a:ext uri="{FF2B5EF4-FFF2-40B4-BE49-F238E27FC236}">
                <a16:creationId xmlns:a16="http://schemas.microsoft.com/office/drawing/2014/main" id="{51A9EE3C-F882-4BA5-9E86-D8B9FD655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6983" y="689673"/>
            <a:ext cx="4660762" cy="466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69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03F6-786A-B843-A183-9FF7E25A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Programming Language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6DB0-A73E-0544-A70C-B91EB2BFB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 this Algorithm Engineering project, C++ programming language is used. </a:t>
            </a:r>
          </a:p>
          <a:p>
            <a:r>
              <a:rPr lang="en-US" dirty="0"/>
              <a:t>C++ is high-level, high-performance, object-oriented programming language.</a:t>
            </a:r>
          </a:p>
          <a:p>
            <a:r>
              <a:rPr lang="en-US" dirty="0"/>
              <a:t> </a:t>
            </a:r>
            <a:r>
              <a:rPr lang="en-US" b="1" dirty="0"/>
              <a:t>Main advantages of C++, </a:t>
            </a:r>
            <a:r>
              <a:rPr lang="en-US" dirty="0"/>
              <a:t>portability, </a:t>
            </a:r>
            <a:r>
              <a:rPr lang="en-US" u="sng" dirty="0"/>
              <a:t>scalability</a:t>
            </a:r>
            <a:r>
              <a:rPr lang="en-US" dirty="0"/>
              <a:t>, </a:t>
            </a:r>
            <a:r>
              <a:rPr lang="en-US" u="sng" dirty="0"/>
              <a:t>multi</a:t>
            </a:r>
            <a:r>
              <a:rPr lang="en-US" dirty="0"/>
              <a:t>-paradigm programming, low-level manipulation, and large community </a:t>
            </a:r>
          </a:p>
          <a:p>
            <a:r>
              <a:rPr lang="en-US" dirty="0"/>
              <a:t>C++ also provided more control over hardware aspects like memory management and CPU usage.</a:t>
            </a:r>
          </a:p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CB3C913-CB8B-834E-8142-D626EF165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4041" y="3741038"/>
            <a:ext cx="1792324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17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FF8B-2C07-124E-B157-C2B0FD506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Crucial Difference of C++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59385-1FED-5841-AEEE-5654980BB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important reason to choose C++ was the </a:t>
            </a:r>
            <a:r>
              <a:rPr lang="en-US" b="1" dirty="0"/>
              <a:t>speed</a:t>
            </a:r>
            <a:r>
              <a:rPr lang="en-US" dirty="0"/>
              <a:t>.  </a:t>
            </a:r>
          </a:p>
          <a:p>
            <a:r>
              <a:rPr lang="en-US" dirty="0"/>
              <a:t>In real-world and real applications it is faster than java</a:t>
            </a:r>
          </a:p>
          <a:p>
            <a:r>
              <a:rPr lang="en-US" dirty="0"/>
              <a:t>Thanks to </a:t>
            </a:r>
            <a:r>
              <a:rPr lang="en-US" b="1" dirty="0"/>
              <a:t>lighter memory footprint that results in better cache performance</a:t>
            </a:r>
            <a:r>
              <a:rPr lang="en-US" dirty="0"/>
              <a:t>.  </a:t>
            </a:r>
          </a:p>
          <a:p>
            <a:r>
              <a:rPr lang="en-US" dirty="0"/>
              <a:t>Particularly,  for sorting and processing the data, </a:t>
            </a:r>
            <a:r>
              <a:rPr lang="en-US" b="1" u="sng" dirty="0"/>
              <a:t>C++ is noticeably faster. </a:t>
            </a:r>
          </a:p>
        </p:txBody>
      </p:sp>
      <p:pic>
        <p:nvPicPr>
          <p:cNvPr id="9" name="Picture 8" descr="Calendar&#10;&#10;Description automatically generated">
            <a:extLst>
              <a:ext uri="{FF2B5EF4-FFF2-40B4-BE49-F238E27FC236}">
                <a16:creationId xmlns:a16="http://schemas.microsoft.com/office/drawing/2014/main" id="{96AF08D8-B79C-CD4B-9154-E47D70277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512" y="1616778"/>
            <a:ext cx="2430880" cy="137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54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F6C47-8996-BD4B-BC09-6CCEAA5C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with Python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E4F75-0068-6B4A-8F03-0BD8AE8AC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is </a:t>
            </a:r>
            <a:r>
              <a:rPr lang="en-US" b="1" dirty="0"/>
              <a:t>interpreted</a:t>
            </a:r>
            <a:r>
              <a:rPr lang="en-US" dirty="0"/>
              <a:t>, while C++ is </a:t>
            </a:r>
            <a:r>
              <a:rPr lang="en-US" b="1" dirty="0"/>
              <a:t>compiled</a:t>
            </a:r>
            <a:r>
              <a:rPr lang="en-US" dirty="0"/>
              <a:t>.</a:t>
            </a:r>
          </a:p>
          <a:p>
            <a:r>
              <a:rPr lang="en-US" dirty="0"/>
              <a:t>  Compiled languages are converted directly into machine code that the processor can execute. </a:t>
            </a:r>
          </a:p>
          <a:p>
            <a:r>
              <a:rPr lang="en-US" dirty="0"/>
              <a:t> Interpreted code is always slower than direct machine code because it takes a lot more instructions to implement an interpreted instruction than to implement an actual machine instruction. </a:t>
            </a:r>
          </a:p>
          <a:p>
            <a:r>
              <a:rPr lang="en-US" b="1" dirty="0"/>
              <a:t>As a result, compiled languages tend to be faster and more efficient to execute than interpreted languages. </a:t>
            </a:r>
          </a:p>
          <a:p>
            <a:endParaRPr lang="en-US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531FB77-D071-8945-AF53-EEDB81859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419" y="804519"/>
            <a:ext cx="3235885" cy="150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56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76CF-7298-0D49-A717-7F57627F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Chart, bar chart&#10;&#10;Description automatically generated">
            <a:extLst>
              <a:ext uri="{FF2B5EF4-FFF2-40B4-BE49-F238E27FC236}">
                <a16:creationId xmlns:a16="http://schemas.microsoft.com/office/drawing/2014/main" id="{C65CFFF3-5B5D-584D-98A1-ECC0D2873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6990" y="0"/>
            <a:ext cx="8750045" cy="612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44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432C8-C715-0B47-8346-D129BD5B1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696" y="804519"/>
            <a:ext cx="7540031" cy="1049235"/>
          </a:xfrm>
        </p:spPr>
        <p:txBody>
          <a:bodyPr/>
          <a:lstStyle/>
          <a:p>
            <a:r>
              <a:rPr lang="en-US" b="1" dirty="0"/>
              <a:t>Weighted Cluster Editing Problem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6AECE-0B3B-584C-A407-457EE4513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015733"/>
            <a:ext cx="8242350" cy="3352800"/>
          </a:xfrm>
        </p:spPr>
        <p:txBody>
          <a:bodyPr>
            <a:normAutofit fontScale="77500" lnSpcReduction="20000"/>
          </a:bodyPr>
          <a:lstStyle/>
          <a:p>
            <a:r>
              <a:rPr lang="en-US" sz="2600" dirty="0"/>
              <a:t>The NP-hard Cluster Editing problem is among the best-studied parameterized problems. </a:t>
            </a:r>
          </a:p>
          <a:p>
            <a:r>
              <a:rPr lang="en-US" sz="2600" dirty="0"/>
              <a:t> The Cluster Editing problem is defined in a way that given an undirected, </a:t>
            </a:r>
            <a:r>
              <a:rPr lang="en-US" sz="2600" dirty="0" err="1"/>
              <a:t>loopless</a:t>
            </a:r>
            <a:r>
              <a:rPr lang="en-US" sz="2600" dirty="0"/>
              <a:t> graph, it is needed to find a set of edge modifications (insertions and deletions) of minimum cardinality,  such that the modified graph consists of disjoint cliques.</a:t>
            </a:r>
          </a:p>
          <a:p>
            <a:r>
              <a:rPr lang="en-US" sz="2600" dirty="0"/>
              <a:t>An undirected graph G= (V, E) and a non-negative integer, the NP-hard Cluster Editing problem asks whether can be transformed into a disjoint union of cliques by modifying at most edges.</a:t>
            </a:r>
          </a:p>
        </p:txBody>
      </p:sp>
      <p:pic>
        <p:nvPicPr>
          <p:cNvPr id="7" name="Picture 6" descr="Diagram, venn diagram&#10;&#10;Description automatically generated">
            <a:extLst>
              <a:ext uri="{FF2B5EF4-FFF2-40B4-BE49-F238E27FC236}">
                <a16:creationId xmlns:a16="http://schemas.microsoft.com/office/drawing/2014/main" id="{C3554161-2067-4944-8283-6A5A84820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046" y="1614158"/>
            <a:ext cx="23368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0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568A54B-9065-40B2-8753-8E0288E82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4DD371-4985-A740-9F6F-EB1E02076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4781" y="804520"/>
            <a:ext cx="4093310" cy="1049235"/>
          </a:xfrm>
        </p:spPr>
        <p:txBody>
          <a:bodyPr>
            <a:normAutofit/>
          </a:bodyPr>
          <a:lstStyle/>
          <a:p>
            <a:r>
              <a:rPr lang="en-US" sz="2200" b="1"/>
              <a:t>Implementation Highlights</a:t>
            </a:r>
            <a:br>
              <a:rPr lang="en-US" sz="2200" b="1"/>
            </a:br>
            <a:endParaRPr lang="en-US" sz="2200" b="1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15F3B72-790F-4B1A-90DE-5EC31C829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A2BED43D-FF5E-4233-9D4F-A509B5603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7F91BB-1330-124F-827A-341D9C37F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5" y="2015732"/>
            <a:ext cx="4311923" cy="3450613"/>
          </a:xfrm>
        </p:spPr>
        <p:txBody>
          <a:bodyPr>
            <a:normAutofit/>
          </a:bodyPr>
          <a:lstStyle/>
          <a:p>
            <a:r>
              <a:rPr lang="en-US" dirty="0"/>
              <a:t>We tried two approaches for implementation</a:t>
            </a:r>
          </a:p>
          <a:p>
            <a:r>
              <a:rPr lang="en-US" b="1" dirty="0"/>
              <a:t>Naïve Approach and Recursive Approach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Diagram&#10;&#10;Description automatically generated with low confidence">
            <a:extLst>
              <a:ext uri="{FF2B5EF4-FFF2-40B4-BE49-F238E27FC236}">
                <a16:creationId xmlns:a16="http://schemas.microsoft.com/office/drawing/2014/main" id="{03B7CA7C-7435-D445-B0AE-A6DABF0A6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1499018"/>
            <a:ext cx="5908696" cy="389973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51D0F8B-A6FE-4009-88A1-49ABE7CEF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C5057B3-E936-43A2-9EEE-514EF0434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44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F7B3D-7AEC-534D-B27C-D5A33807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71299-5609-0C4D-BA77-1FAF3F009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implementing our project we created adjacent matrices and counted for a number of vertices and clusters. We also calculated the cost of each such change.</a:t>
            </a:r>
          </a:p>
          <a:p>
            <a:r>
              <a:rPr lang="en-US" dirty="0"/>
              <a:t> We answered one of the important questions of how does the running time depend on the number of vertices of the input graph, the answer is,  for </a:t>
            </a:r>
            <a:r>
              <a:rPr lang="en-US" dirty="0" err="1"/>
              <a:t>vertexcount</a:t>
            </a:r>
            <a:r>
              <a:rPr lang="en-US" dirty="0"/>
              <a:t> vertices, we need to test  2^((((</a:t>
            </a:r>
            <a:r>
              <a:rPr lang="en-US" dirty="0" err="1"/>
              <a:t>vertexcount</a:t>
            </a:r>
            <a:r>
              <a:rPr lang="en-US" dirty="0"/>
              <a:t> - 1)^2)(vertexcount-1)) / 2) computations. </a:t>
            </a:r>
          </a:p>
          <a:p>
            <a:r>
              <a:rPr lang="en-US" dirty="0"/>
              <a:t>For usual computers, it would be too time-consuming to calculate. </a:t>
            </a:r>
          </a:p>
        </p:txBody>
      </p:sp>
    </p:spTree>
    <p:extLst>
      <p:ext uri="{BB962C8B-B14F-4D97-AF65-F5344CB8AC3E}">
        <p14:creationId xmlns:p14="http://schemas.microsoft.com/office/powerpoint/2010/main" val="2862281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C1959-068C-064A-BA07-03D378BC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6CCB8-341C-014C-9089-303B8605D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4696" y="2015733"/>
            <a:ext cx="9758144" cy="3242068"/>
          </a:xfrm>
        </p:spPr>
        <p:txBody>
          <a:bodyPr>
            <a:normAutofit/>
          </a:bodyPr>
          <a:lstStyle/>
          <a:p>
            <a:r>
              <a:rPr lang="en-US" dirty="0"/>
              <a:t>With the naive approach and recursive approach, the running time increases with the cost. </a:t>
            </a:r>
          </a:p>
          <a:p>
            <a:r>
              <a:rPr lang="en-US" dirty="0"/>
              <a:t>With each cost, we need to build a new recursive tree with one additional layer, while it depends on the cost of the vertex change. </a:t>
            </a:r>
          </a:p>
          <a:p>
            <a:r>
              <a:rPr lang="en-US" dirty="0"/>
              <a:t> It can be stated that our solver worked correctly to perform calculations of the cost.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526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1D232-D57C-7144-8F02-A182CD16E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Graphs</a:t>
            </a:r>
          </a:p>
        </p:txBody>
      </p:sp>
      <p:pic>
        <p:nvPicPr>
          <p:cNvPr id="9" name="Content Placeholder 8" descr="Chart, scatter chart&#10;&#10;Description automatically generated">
            <a:extLst>
              <a:ext uri="{FF2B5EF4-FFF2-40B4-BE49-F238E27FC236}">
                <a16:creationId xmlns:a16="http://schemas.microsoft.com/office/drawing/2014/main" id="{665B8561-0E59-5F4E-96AD-EA6A05EB4B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5871" y="2340827"/>
            <a:ext cx="5054600" cy="3365500"/>
          </a:xfrm>
        </p:spPr>
      </p:pic>
      <p:pic>
        <p:nvPicPr>
          <p:cNvPr id="11" name="Picture 10" descr="Chart, scatter chart&#10;&#10;Description automatically generated">
            <a:extLst>
              <a:ext uri="{FF2B5EF4-FFF2-40B4-BE49-F238E27FC236}">
                <a16:creationId xmlns:a16="http://schemas.microsoft.com/office/drawing/2014/main" id="{940CAFD0-885E-984C-909F-8AA11ED86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215" y="2340827"/>
            <a:ext cx="5054600" cy="336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37150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{AD8CD192-FEF1-3446-BBBD-8C1E1FEBBC4C}tf10001119</Template>
  <TotalTime>120</TotalTime>
  <Words>497</Words>
  <Application>Microsoft Macintosh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Palatino Linotype</vt:lpstr>
      <vt:lpstr>Gallery</vt:lpstr>
      <vt:lpstr>Algorithm Engineering Project </vt:lpstr>
      <vt:lpstr>Programming Language Choice</vt:lpstr>
      <vt:lpstr>Crucial Difference of C++ </vt:lpstr>
      <vt:lpstr>Comparison with Python </vt:lpstr>
      <vt:lpstr>PowerPoint Presentation</vt:lpstr>
      <vt:lpstr>Weighted Cluster Editing Problem </vt:lpstr>
      <vt:lpstr>Implementation Highlights </vt:lpstr>
      <vt:lpstr>Experiments </vt:lpstr>
      <vt:lpstr>Final Remarks</vt:lpstr>
      <vt:lpstr>Graphs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 Engineering Project </dc:title>
  <dc:creator>TU-Pseudonym 8291597946737135</dc:creator>
  <cp:lastModifiedBy>TU-Pseudonym 8291597946737135</cp:lastModifiedBy>
  <cp:revision>22</cp:revision>
  <dcterms:created xsi:type="dcterms:W3CDTF">2021-04-28T09:48:50Z</dcterms:created>
  <dcterms:modified xsi:type="dcterms:W3CDTF">2025-12-27T10:16:21Z</dcterms:modified>
</cp:coreProperties>
</file>